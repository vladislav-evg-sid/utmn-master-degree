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EDA: от данных к обоснованному решению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Практическое занятие № 5 · 90 минут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Цель: исследовать задержки доставки до обучения модели.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Доцент Вадим Мазур · ТюмГУ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ВОПРОС</a:t>
            </a:r>
          </a:p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Можно ли доверять модели, если мы не понимаем данные?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Что студент получит к концу занятия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1. Паспорт качества данных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2. Распределение целевой переменной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3. Расчёт выбросов по IQR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4. Анализ связей и групп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5. Три аргументированных вывода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Важно: не количество диаграмм, а обоснование каждого вывода.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Сквозной кейс: прогноз задержки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Заказ оформлен → курьер доставляет → фиксируем фактическую задержку.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Признаки до отправки: расстояние, тип доставки, прогноз погоды.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Цель: delay_minutes — число минут задержки.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Графики построены на синтетическом наборе из 600 заказов.</a:t>
            </a:r>
          </a:p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Это демонстрация, не результаты orders_dirty.csv.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Логика анализа: 5 последовательных вопросов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1. Что означает каждая строка?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2. Какие значения ошибочны или отсутствуют?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3. Как распределена целевая переменная?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4. Какие признаки с ней связаны?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5. Какие выводы можно проверить на новых данных?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Таблица: структура набора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order_id — идентификатор (не обучающий признак)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distance_km — расстояние, км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delivery_type — категория доставки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weather — погодные условия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delay_minutes — целевая переменная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Уточнить момент доступности каждого признака.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Аудит качества: что проверить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Пропуски: сколько и в каких полях?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Дубликаты: повтор заказа или законная повторная запись?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Диапазоны: distance_km &lt; 0 — подозрительно.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Типы: дата как строка не равна дате как типу 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Python: первое знакомство с таблицей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766560" cy="4526280"/>
          </a:xfrm>
          <a:prstGeom prst="roundRect">
            <a:avLst/>
          </a:prstGeom>
          <a:solidFill>
            <a:srgbClr val="EF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6355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import pandas as pd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df = pd.read_csv("orders_dirty.csv")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print(df.shape)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print(df.dtypes)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print(df.isna().sum())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print(df.duplicated().sum())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72768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РЕЗУЛЬТАТ И СМЫСЛ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Размер таблицы, типы столбцов, пропуски и полные дубликаты.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Имена полей сверяем с реальным файлом.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Среднее арифметическое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563EB"/>
                </a:solidFill>
              </a:defRPr>
            </a:pPr>
            <a:r>
              <a:t>x̄ = (x₁ + x₂ + … + xₙ) /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11223E"/>
                </a:solidFill>
              </a:defRPr>
            </a:pPr>
            <a:r>
              <a:t>Пример: 5, 7, 9, 11, 68 → x̄ = 20 минут.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059669"/>
                </a:solidFill>
              </a:defRPr>
            </a:pPr>
            <a:r>
              <a:t>Один экстремальный заказ сильно поднял среднее.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Медиана и устойчивость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563EB"/>
                </a:solidFill>
              </a:defRPr>
            </a:pPr>
            <a:r>
              <a:t>Median(5, 7, 9, 11, 68) =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11223E"/>
                </a:solidFill>
              </a:defRPr>
            </a:pPr>
            <a:r>
              <a:t>Половина значений не превышает 9 минут.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059669"/>
                </a:solidFill>
              </a:defRPr>
            </a:pPr>
            <a:r>
              <a:t>Медиана лучше описывает типичный заказ при длинном хвосте.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Гистограмма: форма распределения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10</a:t>
            </a:r>
          </a:p>
        </p:txBody>
      </p:sp>
      <p:pic>
        <p:nvPicPr>
          <p:cNvPr id="6" name="Picture 5" descr="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9888"/>
            <a:ext cx="768096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Что видно?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• Основная масса заказов — слева.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• Длинный правый хвост.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• Среднее выше медианы.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Вывод: нельзя описывать задержки только средним.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Как читать гистограмму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Ось X — интервалы задержки в минутах.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Ось Y — количество заказов в интервале.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Изменение числа интервалов меняет детализацию, но не сами данные.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Задание: объясните, почему правый хвост важен для службы доставки.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Дисперсия: насколько разбросаны данные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563EB"/>
                </a:solidFill>
              </a:defRPr>
            </a:pPr>
            <a:r>
              <a:t>s² = Σ(xᵢ − x̄)² / (n − 1)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11223E"/>
                </a:solidFill>
              </a:defRPr>
            </a:pPr>
            <a:r>
              <a:t>Для 2, 4, 6: среднее 4; сумма квадратов = 8; s² = 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059669"/>
                </a:solidFill>
              </a:defRPr>
            </a:pPr>
            <a:r>
              <a:t>Стандартное отклонение s = 2, в исходных единицах.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Квартили и межквартильный размах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563EB"/>
                </a:solidFill>
              </a:defRPr>
            </a:pPr>
            <a:r>
              <a:t>IQR = Q₃ − Q₁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11223E"/>
                </a:solidFill>
              </a:defRPr>
            </a:pPr>
            <a:r>
              <a:t>Для 2, 4, 5, 7, 9, 10, 12: Q₁ = 4; Q₃ = 10; IQR = 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059669"/>
                </a:solidFill>
              </a:defRPr>
            </a:pPr>
            <a:r>
              <a:t>Границы Тьюки: 4 − 1,5·6 = −5; 10 + 1,5·6 = 19.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Boxplot: визуальное обнаружение выбросов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14</a:t>
            </a:r>
          </a:p>
        </p:txBody>
      </p:sp>
      <p:pic>
        <p:nvPicPr>
          <p:cNvPr id="6" name="Picture 5" descr="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9888"/>
            <a:ext cx="768096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Коробка: Q₁–Q₃.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Линия внутри: медиана.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«Усы»: крайние точки в пределах 1,5·IQR.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Отдельные точки: кандидаты в выбросы.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Выброс: удалить или исследовать?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Ошибка измерения → исправить по первоисточнику.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Реальное редкое событие → часто оставить.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Неизвестная причина → пометить и сравнить варианты.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Не удаляйте автоматически всё за 1,5·IQR.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Вопрос: потеряет ли модель способность предсказывать сильные задержки?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Python: квартильные границы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766560" cy="4526280"/>
          </a:xfrm>
          <a:prstGeom prst="roundRect">
            <a:avLst/>
          </a:prstGeom>
          <a:solidFill>
            <a:srgbClr val="EF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6355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y = df["delay_minutes"].dropna()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q1 = y.quantile(.25)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q3 = y.quantile(.75)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iqr = q3 - q1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lo, hi = q1-1.5*iqr, q3+1.5*iqr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mask = (y &lt; lo) | (y &gt; hi)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print(mask.sum())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72768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РЕЗУЛЬТАТ И СМЫСЛ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Число подозрительных записей.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Это сигнал для проверки, а не команда на удаление.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Диаграмма рассеяния: расстояние и задержка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17</a:t>
            </a:r>
          </a:p>
        </p:txBody>
      </p:sp>
      <p:pic>
        <p:nvPicPr>
          <p:cNvPr id="6" name="Picture 5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9888"/>
            <a:ext cx="768096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Каждая точка — заказ.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Красная линия — линейный тренд.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Рост расстояния связан с ростом задержки, но разброс остаётся.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Корреляция Пирсона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563EB"/>
                </a:solidFill>
              </a:defRPr>
            </a:pPr>
            <a:r>
              <a:t>r = cov(X,Y) / (sₓ · sᵧ)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11223E"/>
                </a:solidFill>
              </a:defRPr>
            </a:pPr>
            <a:r>
              <a:t>r = +1 — идеальная положительная линейная связь;</a:t>
            </a:r>
          </a:p>
          <a:p>
            <a:pPr>
              <a:spcAft>
                <a:spcPts val="1300"/>
              </a:spcAft>
              <a:defRPr sz="2200" b="0">
                <a:solidFill>
                  <a:srgbClr val="11223E"/>
                </a:solidFill>
              </a:defRPr>
            </a:pPr>
            <a:r>
              <a:t>r = −1 — отрицательная; r ≈ 0 — слабая линейная.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059669"/>
                </a:solidFill>
              </a:defRPr>
            </a:pPr>
            <a:r>
              <a:t>Корреляция не измеряет причинность.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Положительная и отрицательная связь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19</a:t>
            </a:r>
          </a:p>
        </p:txBody>
      </p:sp>
      <p:pic>
        <p:nvPicPr>
          <p:cNvPr id="6" name="Picture 5" descr="cor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9888"/>
            <a:ext cx="768096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Сравните направление облаков точек.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Положительная: X растёт, Y обычно растёт.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Отрицательная: X растёт, Y обычно уменьшается.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Корреляционная матрица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20</a:t>
            </a:r>
          </a:p>
        </p:txBody>
      </p:sp>
      <p:pic>
        <p:nvPicPr>
          <p:cNvPr id="6" name="Picture 5" descr="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9888"/>
            <a:ext cx="768096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Диагональ всегда 1.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Вне диагонали — попарные линейные связи.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Перед выводами проверяйте выбросы и форму зависимости.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Пирсон и Спирмен: в чём разница?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Пирсон: оценивает линейную связь числовых переменных.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Спирмен: оценивает монотонную связь по рангам.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Если зависимость монотонная, но нелинейная, коэффициенты могут различаться.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Пример: Y = X³ — монотонно, но не обязательно линейно.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Сравнение групп: погодные условия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22</a:t>
            </a:r>
          </a:p>
        </p:txBody>
      </p:sp>
      <p:pic>
        <p:nvPicPr>
          <p:cNvPr id="6" name="Picture 5" descr="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9888"/>
            <a:ext cx="768096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Условия «снег» в учебных данных сопровождаются большими задержками.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Но различия групп сами по себе не доказывают причинный эффект.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Скрытые факторы и причинность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Погода может быть связана с расстоянием, временем суток и нагрузкой курьеров.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Сравнение средних без контроля факторов может вводить в заблуждение.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Вопрос: что нужно дополнительно измерить, чтобы проверить гипотезу о погоде?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Временной порядок и разделение выборки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24</a:t>
            </a:r>
          </a:p>
        </p:txBody>
      </p:sp>
      <p:pic>
        <p:nvPicPr>
          <p:cNvPr id="6" name="Picture 5" descr="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9888"/>
            <a:ext cx="768096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Слева — прошлые дни (обучение).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Справа — будущие дни (проверка).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При прогнозировании будущего случайное перемешивание может дать слишком оптимистичную оценку.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Утечка данных: частая ошибка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Нельзя использовать факт, известный только после доставки, для прогноза при оформлении.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Плохо: actual_delivery_time.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Хорошо: distance_km и доступный в момент заказа прогноз погоды.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Проверка каждого признака: «Когда эта информация стала известна?»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Python: три графика и группировка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766560" cy="4526280"/>
          </a:xfrm>
          <a:prstGeom prst="roundRect">
            <a:avLst/>
          </a:prstGeom>
          <a:solidFill>
            <a:srgbClr val="EF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6355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import matplotlib.pyplot as plt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df["delay_minutes"].hist(bins=25)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plt.show()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df.plot.scatter(x="distance_km",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                y="delay_minutes")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plt.show()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print(df.groupby("delivery_type")</a:t>
            </a:r>
          </a:p>
          <a:p>
            <a:pPr>
              <a:spcAft>
                <a:spcPts val="1300"/>
              </a:spcAft>
              <a:defRPr sz="1700" b="0">
                <a:solidFill>
                  <a:srgbClr val="11223E"/>
                </a:solidFill>
              </a:defRPr>
            </a:pPr>
            <a:r>
              <a:t>      ["delay_minutes"].median())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72768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РЕЗУЛЬТАТ И СМЫСЛ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Гистограмма → распределение.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Точки → зависимость.</a:t>
            </a:r>
          </a:p>
          <a:p>
            <a:pPr>
              <a:spcAft>
                <a:spcPts val="1300"/>
              </a:spcAft>
              <a:defRPr sz="1900" b="0">
                <a:solidFill>
                  <a:srgbClr val="11223E"/>
                </a:solidFill>
              </a:defRPr>
            </a:pPr>
            <a:r>
              <a:t>Медианы по группам → сравнение сегментов.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Практика 1 · 0–20 минут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Откройте набор и создайте паспорт: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• число строк и столбцов;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• типы признаков;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• таблица пропусков;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• число дублей;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• два подозрительных значения.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Критерий готовности: каждое подозрение подкреплено строкой или подсчётом.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Практика 2 · 20–45 минут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Постройте гистограмму и boxplot цели.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Рассчитайте mean, median, std, Q₁, Q₃, IQR.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Напишите два вывода по графикам.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Критерий: интерпретация, а не скриншот без пояснений.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Практика 3 · 45–70 минут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Постройте диаграмму рассеяния и матрицу корреляций.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Сравните целевую переменную по категориям.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Сформулируйте две проверяемые гипотезы.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Критерий: связь не называется причиной без доказательств.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Защита · 70–90 минут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Покажите один главный график.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Назовите одну проблему качества.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Объясните одну обнаруженную закономерность.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Укажите одно ограничение исследования.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Каждый вывод: наблюдение → число → интерпретация → ограничение.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Пример правильного аналитического вывода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Наблюдение: распределение задержек асимметрично вправо.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Подтверждение: среднее выше медианы (на демонстрационных данных).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Следствие: для «типичного» заказа стоит сообщать медиану.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Ограничение: результат требует проверки на реальном наборе.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Как оформлять отчёт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1. Цель и описание данных.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2. Качество данных: таблица и решения.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3. Статистика и графики с подписями.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4. Гипотезы и ограничения.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5. Приложение: воспроизводимый код.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Каждый рисунок: название, единицы измерения, краткий вывод.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Рубрика оценивания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25% — проверка качества данных.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25% — корректность расчётов и графиков.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30% — интерпретация и гипотезы.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20% — воспроизводимость и оформление.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Высокий балл: студент объясняет, почему выбрал именно этот метод.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Проверка понимания: 5 вопросов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Почему медиана отличается от среднего?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Почему 1,5·IQR — не правило удаления?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Что показывает r = 0?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Почему корреляция не доказывает причину?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Как возникает утечка данных?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1223E"/>
                </a:solidFill>
              </a:defRPr>
            </a:pPr>
            <a:r>
              <a:t>Итог: готовность к обучению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9728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ТюмГУ · Технологии искусственного интеллекта — 1 · Практика №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47C"/>
                </a:solidFill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498079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Данные изучены → качество оценено → распределения понятны → гипотезы сформулированы.</a:t>
            </a: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1223E"/>
                </a:solidFill>
              </a:defRPr>
            </a:pPr>
            <a:r>
              <a:t>Следующий шаг: подготовка признаков, корректное разделение выборки и базовая модель.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08760"/>
            <a:ext cx="2880360" cy="4343400"/>
          </a:xfrm>
          <a:prstGeom prst="roundRect">
            <a:avLst/>
          </a:prstGeom>
          <a:solidFill>
            <a:srgbClr val="E9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1223E"/>
                </a:solidFill>
              </a:defRPr>
            </a:pPr>
            <a:r>
              <a:t>EDA — инструмент критического мышления, а не коллекция диаграмм.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